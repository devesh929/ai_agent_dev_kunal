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2241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914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Deloitte.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764792" y="219456"/>
            <a:ext cx="118872" cy="118872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377440" y="14630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5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&amp; Final Settlement  |  Process Overview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822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FNF Process Review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4048" y="12161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vs. Proposed Roadmap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45152" y="804672"/>
            <a:ext cx="0" cy="388620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4048" y="1572768"/>
            <a:ext cx="50292" cy="310896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5910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1975104"/>
            <a:ext cx="4069080" cy="3108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" y="200253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130552" y="200253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36976" y="2002536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4048" y="2322576"/>
            <a:ext cx="4069080" cy="603504"/>
          </a:xfrm>
          <a:prstGeom prst="rect">
            <a:avLst/>
          </a:prstGeom>
          <a:solidFill>
            <a:srgbClr val="F9F9F9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8056" y="2523744"/>
            <a:ext cx="182880" cy="182880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34924" y="2715768"/>
            <a:ext cx="0" cy="265176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2414016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 Before LWD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03120" y="2322576"/>
            <a:ext cx="0" cy="603504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18688" y="2322576"/>
            <a:ext cx="0" cy="603504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139696" y="2432304"/>
            <a:ext cx="1024128" cy="384048"/>
          </a:xfrm>
          <a:prstGeom prst="rect">
            <a:avLst/>
          </a:prstGeom>
          <a:solidFill>
            <a:srgbClr val="F0F0F0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139696" y="243230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55264" y="2432304"/>
            <a:ext cx="1115568" cy="384048"/>
          </a:xfrm>
          <a:prstGeom prst="rect">
            <a:avLst/>
          </a:prstGeom>
          <a:solidFill>
            <a:srgbClr val="EEF6E0"/>
          </a:solidFill>
          <a:ln w="9525">
            <a:solidFill>
              <a:srgbClr val="B8DC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55264" y="2432304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4048" y="2980944"/>
            <a:ext cx="40690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48056" y="3182112"/>
            <a:ext cx="182880" cy="182880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34924" y="3374136"/>
            <a:ext cx="0" cy="265176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1520" y="3072384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Before LWD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103120" y="2980944"/>
            <a:ext cx="0" cy="603504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18688" y="2980944"/>
            <a:ext cx="0" cy="603504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139696" y="3090672"/>
            <a:ext cx="1024128" cy="384048"/>
          </a:xfrm>
          <a:prstGeom prst="rect">
            <a:avLst/>
          </a:prstGeom>
          <a:solidFill>
            <a:srgbClr val="F0F0F0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139696" y="3090672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55264" y="3090672"/>
            <a:ext cx="1115568" cy="384048"/>
          </a:xfrm>
          <a:prstGeom prst="rect">
            <a:avLst/>
          </a:prstGeom>
          <a:solidFill>
            <a:srgbClr val="EEF6E0"/>
          </a:solidFill>
          <a:ln w="9525">
            <a:solidFill>
              <a:srgbClr val="B8DC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55264" y="3090672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84048" y="3639312"/>
            <a:ext cx="4069080" cy="603504"/>
          </a:xfrm>
          <a:prstGeom prst="rect">
            <a:avLst/>
          </a:prstGeom>
          <a:solidFill>
            <a:srgbClr val="F9F9F9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48056" y="3840480"/>
            <a:ext cx="182880" cy="182880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31520" y="3730752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Working Day (LWD)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103120" y="3639312"/>
            <a:ext cx="0" cy="603504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218688" y="3639312"/>
            <a:ext cx="0" cy="603504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139696" y="3749040"/>
            <a:ext cx="1024128" cy="384048"/>
          </a:xfrm>
          <a:prstGeom prst="rect">
            <a:avLst/>
          </a:prstGeom>
          <a:solidFill>
            <a:srgbClr val="F0F0F0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139696" y="374904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55264" y="3749040"/>
            <a:ext cx="1115568" cy="384048"/>
          </a:xfrm>
          <a:prstGeom prst="rect">
            <a:avLst/>
          </a:prstGeom>
          <a:solidFill>
            <a:srgbClr val="EEF6E0"/>
          </a:solidFill>
          <a:ln w="9525">
            <a:solidFill>
              <a:srgbClr val="B8DC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255264" y="374904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84048" y="4334256"/>
            <a:ext cx="256032" cy="128016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94944" y="432511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27632" y="4334256"/>
            <a:ext cx="256032" cy="128016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938528" y="432511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46320" y="930869"/>
            <a:ext cx="50292" cy="310896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965192" y="949157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FNF CATEGORIES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64608" y="1369781"/>
            <a:ext cx="3977640" cy="80467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846320" y="1333205"/>
            <a:ext cx="39776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846320" y="1333205"/>
            <a:ext cx="64008" cy="804672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001768" y="1516085"/>
            <a:ext cx="384048" cy="256032"/>
          </a:xfrm>
          <a:prstGeom prst="rect">
            <a:avLst/>
          </a:prstGeom>
          <a:solidFill>
            <a:srgbClr val="EEF6E0"/>
          </a:solidFill>
          <a:ln w="6350">
            <a:solidFill>
              <a:srgbClr val="C8E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001768" y="151608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486400" y="1424645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in FNF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486400" y="1698965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and entitlements to be settled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486400" y="1954997"/>
            <a:ext cx="3200400" cy="0"/>
          </a:xfrm>
          <a:prstGeom prst="line">
            <a:avLst/>
          </a:prstGeom>
          <a:noFill/>
          <a:ln w="508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504688" y="1973285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items: gratuity, leave encashment, bonuses…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864608" y="2265893"/>
            <a:ext cx="3977640" cy="80467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846320" y="2229317"/>
            <a:ext cx="39776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846320" y="2229317"/>
            <a:ext cx="64008" cy="804672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5001768" y="2412197"/>
            <a:ext cx="384048" cy="256032"/>
          </a:xfrm>
          <a:prstGeom prst="rect">
            <a:avLst/>
          </a:prstGeom>
          <a:solidFill>
            <a:srgbClr val="F2F2F2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001768" y="2412197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86400" y="2320757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in FNF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5486400" y="2595077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withheld or not applicable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486400" y="2851109"/>
            <a:ext cx="3200400" cy="0"/>
          </a:xfrm>
          <a:prstGeom prst="line">
            <a:avLst/>
          </a:prstGeom>
          <a:noFill/>
          <a:ln w="508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504688" y="2869397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items: advance recovery, pending notices…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864608" y="3162005"/>
            <a:ext cx="3977640" cy="80467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4846320" y="3125429"/>
            <a:ext cx="39776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846320" y="3125429"/>
            <a:ext cx="64008" cy="8046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5001768" y="3308309"/>
            <a:ext cx="384048" cy="256032"/>
          </a:xfrm>
          <a:prstGeom prst="rect">
            <a:avLst/>
          </a:prstGeom>
          <a:solidFill>
            <a:srgbClr val="1A1A1A"/>
          </a:solidFill>
          <a:ln w="6350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5001768" y="3308309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486400" y="3216869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5486400" y="3491189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approvals and action owners required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486400" y="3747221"/>
            <a:ext cx="3200400" cy="0"/>
          </a:xfrm>
          <a:prstGeom prst="line">
            <a:avLst/>
          </a:prstGeom>
          <a:noFill/>
          <a:ln w="508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5504688" y="3765509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decisions: HR sign-off, finance clearance…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384048" y="48646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 Deloitte Touche Tohmatsu India LLP  ·  Confidential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6583680" y="48646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 |  For Internal Use Only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792d246-d363-40e2-82bc-6f0655128b68}" enabled="1" method="Standard" siteId="{372ee9e0-9ce0-4033-a64a-c07073a91ec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117</Words>
  <Application>Microsoft Office PowerPoint</Application>
  <PresentationFormat>On-screen Show (16:9)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FNF Process — Current vs Proposed</dc:title>
  <dc:subject>PptxGenJS Presentation</dc:subject>
  <dc:creator>PptxGenJS</dc:creator>
  <cp:lastModifiedBy>Devesh Chaudhary</cp:lastModifiedBy>
  <cp:revision>2</cp:revision>
  <dcterms:created xsi:type="dcterms:W3CDTF">2026-03-13T06:40:50Z</dcterms:created>
  <dcterms:modified xsi:type="dcterms:W3CDTF">2026-03-13T06:52:36Z</dcterms:modified>
</cp:coreProperties>
</file>